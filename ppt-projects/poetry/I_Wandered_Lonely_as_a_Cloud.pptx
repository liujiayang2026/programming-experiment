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5B8CB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54480" y="914399"/>
            <a:ext cx="3291840" cy="3291840"/>
          </a:xfrm>
          <a:prstGeom prst="ellipse">
            <a:avLst/>
          </a:prstGeom>
          <a:solidFill>
            <a:srgbClr val="84A8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3566160" y="822960"/>
            <a:ext cx="2377440" cy="2377440"/>
          </a:xfrm>
          <a:prstGeom prst="ellipse">
            <a:avLst/>
          </a:prstGeom>
          <a:solidFill>
            <a:srgbClr val="7FA5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3017520" y="2286000"/>
            <a:ext cx="1828800" cy="1828800"/>
          </a:xfrm>
          <a:prstGeom prst="ellipse">
            <a:avLst/>
          </a:prstGeom>
          <a:solidFill>
            <a:srgbClr val="78A0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1371600"/>
            <a:ext cx="94183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600"/>
              </a:spcAft>
              <a:defRPr sz="4200">
                <a:solidFill>
                  <a:srgbClr val="FFFFFF"/>
                </a:solidFill>
                <a:latin typeface="Arial"/>
              </a:defRPr>
            </a:pPr>
            <a:r>
              <a:t>I wandered lonely as a cloud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0" y="3291840"/>
            <a:ext cx="3017520" cy="2286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71600" y="3566160"/>
            <a:ext cx="9418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400"/>
              </a:spcAft>
              <a:defRPr sz="3600">
                <a:solidFill>
                  <a:srgbClr val="E8E8E8"/>
                </a:solidFill>
                <a:latin typeface="Microsoft YaHei"/>
              </a:defRPr>
            </a:pPr>
            <a:r>
              <a:t>云  ·  孤  ·  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4846320"/>
            <a:ext cx="8503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  <a:defRPr sz="1600">
                <a:solidFill>
                  <a:srgbClr val="CCDDEE"/>
                </a:solidFill>
                <a:latin typeface="Microsoft YaHei"/>
              </a:defRPr>
            </a:pPr>
            <a:r>
              <a:t>一朵孤云飘过高高的山谷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85216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AABBCC"/>
                </a:solidFill>
                <a:latin typeface="Arial"/>
              </a:defRPr>
            </a:pPr>
            <a:r>
              <a:t>— William Wordsworth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89920" y="640080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888888"/>
                </a:solidFill>
                <a:latin typeface="Arial"/>
              </a:defRPr>
            </a:pPr>
            <a:r>
              <a:t>1/7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E7D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326880" y="2651760"/>
            <a:ext cx="1097280" cy="1097280"/>
          </a:xfrm>
          <a:prstGeom prst="ellipse">
            <a:avLst/>
          </a:prstGeom>
          <a:solidFill>
            <a:srgbClr val="779C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641080" y="3839600"/>
            <a:ext cx="1097280" cy="1097280"/>
          </a:xfrm>
          <a:prstGeom prst="ellipse">
            <a:avLst/>
          </a:prstGeom>
          <a:solidFill>
            <a:srgbClr val="779C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7269480" y="3839600"/>
            <a:ext cx="1097280" cy="1097280"/>
          </a:xfrm>
          <a:prstGeom prst="ellipse">
            <a:avLst/>
          </a:prstGeom>
          <a:solidFill>
            <a:srgbClr val="779C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6583680" y="2651760"/>
            <a:ext cx="1097280" cy="1097280"/>
          </a:xfrm>
          <a:prstGeom prst="ellipse">
            <a:avLst/>
          </a:prstGeom>
          <a:solidFill>
            <a:srgbClr val="779C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7269480" y="1463919"/>
            <a:ext cx="1097280" cy="1097280"/>
          </a:xfrm>
          <a:prstGeom prst="ellipse">
            <a:avLst/>
          </a:prstGeom>
          <a:solidFill>
            <a:srgbClr val="779C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641080" y="1463919"/>
            <a:ext cx="1097280" cy="1097280"/>
          </a:xfrm>
          <a:prstGeom prst="ellipse">
            <a:avLst/>
          </a:prstGeom>
          <a:solidFill>
            <a:srgbClr val="779C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188720"/>
            <a:ext cx="731520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500"/>
              </a:spcAft>
              <a:defRPr sz="3800">
                <a:solidFill>
                  <a:srgbClr val="FFFFFF"/>
                </a:solidFill>
                <a:latin typeface="Arial"/>
              </a:defRPr>
            </a:pPr>
            <a:r>
              <a:t>a crowd,</a:t>
            </a:r>
          </a:p>
          <a:p>
            <a:pPr algn="ctr">
              <a:spcAft>
                <a:spcPts val="1500"/>
              </a:spcAft>
              <a:defRPr sz="3800">
                <a:solidFill>
                  <a:srgbClr val="FFFFFF"/>
                </a:solidFill>
                <a:latin typeface="Arial"/>
              </a:defRPr>
            </a:pPr>
            <a:r>
              <a:t>a host of golden daffodils</a:t>
            </a:r>
          </a:p>
        </p:txBody>
      </p:sp>
      <p:sp>
        <p:nvSpPr>
          <p:cNvPr id="9" name="Rectangle 8"/>
          <p:cNvSpPr/>
          <p:nvPr/>
        </p:nvSpPr>
        <p:spPr>
          <a:xfrm>
            <a:off x="2560320" y="3657600"/>
            <a:ext cx="3200400" cy="2286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3931920"/>
            <a:ext cx="73152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300"/>
              </a:spcAft>
              <a:defRPr sz="3400">
                <a:solidFill>
                  <a:srgbClr val="FFEE88"/>
                </a:solidFill>
                <a:latin typeface="Microsoft YaHei"/>
              </a:defRPr>
            </a:pPr>
            <a:r>
              <a:t>金色  ·  成群  ·  舞动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5029200"/>
            <a:ext cx="6858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  <a:defRPr sz="1600">
                <a:solidFill>
                  <a:srgbClr val="CCFFCC"/>
                </a:solidFill>
                <a:latin typeface="Microsoft YaHei"/>
              </a:defRPr>
            </a:pPr>
            <a:r>
              <a:t>湖边树下，一大片金色水仙在风中舞动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789920" y="640080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888888"/>
                </a:solidFill>
                <a:latin typeface="Arial"/>
              </a:defRPr>
            </a:pPr>
            <a:r>
              <a:t>2/7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1592002" y="3783849"/>
            <a:ext cx="91640" cy="91640"/>
          </a:xfrm>
          <a:prstGeom prst="ellipse">
            <a:avLst/>
          </a:prstGeom>
          <a:solidFill>
            <a:srgbClr val="BCBC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4266038" y="5928350"/>
            <a:ext cx="69089" cy="69089"/>
          </a:xfrm>
          <a:prstGeom prst="ellipse">
            <a:avLst/>
          </a:prstGeom>
          <a:solidFill>
            <a:srgbClr val="FEFE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5151408" y="2588168"/>
            <a:ext cx="37873" cy="37873"/>
          </a:xfrm>
          <a:prstGeom prst="ellipse">
            <a:avLst/>
          </a:prstGeom>
          <a:solidFill>
            <a:srgbClr val="C9C9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6407560" y="3664257"/>
            <a:ext cx="86009" cy="86009"/>
          </a:xfrm>
          <a:prstGeom prst="ellipse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22373" y="2352876"/>
            <a:ext cx="72740" cy="72740"/>
          </a:xfrm>
          <a:prstGeom prst="ellipse">
            <a:avLst/>
          </a:prstGeom>
          <a:solidFill>
            <a:srgbClr val="FCFC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620113" y="2182741"/>
            <a:ext cx="76277" cy="76277"/>
          </a:xfrm>
          <a:prstGeom prst="ellipse">
            <a:avLst/>
          </a:prstGeom>
          <a:solidFill>
            <a:srgbClr val="DEDE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5328250" y="1422177"/>
            <a:ext cx="65518" cy="65518"/>
          </a:xfrm>
          <a:prstGeom prst="ellipse">
            <a:avLst/>
          </a:prstGeom>
          <a:solidFill>
            <a:srgbClr val="EDED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5798355" y="974922"/>
            <a:ext cx="85929" cy="85929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648640" y="5912351"/>
            <a:ext cx="101439" cy="101439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4336655" y="846891"/>
            <a:ext cx="79634" cy="79634"/>
          </a:xfrm>
          <a:prstGeom prst="ellipse">
            <a:avLst/>
          </a:prstGeom>
          <a:solidFill>
            <a:srgbClr val="D5D5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982195" y="4700869"/>
            <a:ext cx="96914" cy="96914"/>
          </a:xfrm>
          <a:prstGeom prst="ellipse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131898" y="5113992"/>
            <a:ext cx="67896" cy="67896"/>
          </a:xfrm>
          <a:prstGeom prst="ellipse">
            <a:avLst/>
          </a:prstGeom>
          <a:solidFill>
            <a:srgbClr val="ACAC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2367708" y="3381731"/>
            <a:ext cx="69602" cy="6960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1220994" y="4209009"/>
            <a:ext cx="68778" cy="68778"/>
          </a:xfrm>
          <a:prstGeom prst="ellipse">
            <a:avLst/>
          </a:prstGeom>
          <a:solidFill>
            <a:srgbClr val="E7E7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562616" y="4562411"/>
            <a:ext cx="64651" cy="64651"/>
          </a:xfrm>
          <a:prstGeom prst="ellipse">
            <a:avLst/>
          </a:prstGeom>
          <a:solidFill>
            <a:srgbClr val="C0C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189165" y="5864434"/>
            <a:ext cx="54480" cy="5448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1779593" y="3025659"/>
            <a:ext cx="76721" cy="76721"/>
          </a:xfrm>
          <a:prstGeom prst="ellipse">
            <a:avLst/>
          </a:prstGeom>
          <a:solidFill>
            <a:srgbClr val="B9B9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681704" y="5981751"/>
            <a:ext cx="60823" cy="60823"/>
          </a:xfrm>
          <a:prstGeom prst="ellipse">
            <a:avLst/>
          </a:prstGeom>
          <a:solidFill>
            <a:srgbClr val="C9C9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3851610" y="1943521"/>
            <a:ext cx="45588" cy="45588"/>
          </a:xfrm>
          <a:prstGeom prst="ellipse">
            <a:avLst/>
          </a:prstGeom>
          <a:solidFill>
            <a:srgbClr val="B9B9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8002300" y="2412732"/>
            <a:ext cx="106597" cy="106597"/>
          </a:xfrm>
          <a:prstGeom prst="ellipse">
            <a:avLst/>
          </a:prstGeom>
          <a:solidFill>
            <a:srgbClr val="FEFE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744750" y="663356"/>
            <a:ext cx="40123" cy="40123"/>
          </a:xfrm>
          <a:prstGeom prst="ellipse">
            <a:avLst/>
          </a:prstGeom>
          <a:solidFill>
            <a:srgbClr val="C9C9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141906" y="564269"/>
            <a:ext cx="61132" cy="61132"/>
          </a:xfrm>
          <a:prstGeom prst="ellipse">
            <a:avLst/>
          </a:prstGeom>
          <a:solidFill>
            <a:srgbClr val="C5C5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263031" y="4812554"/>
            <a:ext cx="103097" cy="103097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19561" y="1208505"/>
            <a:ext cx="63647" cy="63647"/>
          </a:xfrm>
          <a:prstGeom prst="ellipse">
            <a:avLst/>
          </a:prstGeom>
          <a:solidFill>
            <a:srgbClr val="A8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5820948" y="3849206"/>
            <a:ext cx="40409" cy="40409"/>
          </a:xfrm>
          <a:prstGeom prst="ellipse">
            <a:avLst/>
          </a:prstGeom>
          <a:solidFill>
            <a:srgbClr val="D5D5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2171543" y="3397440"/>
            <a:ext cx="97708" cy="97708"/>
          </a:xfrm>
          <a:prstGeom prst="ellipse">
            <a:avLst/>
          </a:prstGeom>
          <a:solidFill>
            <a:srgbClr val="CDCD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6821645" y="3289183"/>
            <a:ext cx="58602" cy="58602"/>
          </a:xfrm>
          <a:prstGeom prst="ellipse">
            <a:avLst/>
          </a:prstGeom>
          <a:solidFill>
            <a:srgbClr val="B6B6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496346" y="462170"/>
            <a:ext cx="51277" cy="51277"/>
          </a:xfrm>
          <a:prstGeom prst="ellipse">
            <a:avLst/>
          </a:prstGeom>
          <a:solidFill>
            <a:srgbClr val="FDFD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3662578" y="4370971"/>
            <a:ext cx="90794" cy="90794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6362030" y="3081512"/>
            <a:ext cx="50248" cy="50248"/>
          </a:xfrm>
          <a:prstGeom prst="ellipse">
            <a:avLst/>
          </a:prstGeom>
          <a:solidFill>
            <a:srgbClr val="A0A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8060752" y="5903353"/>
            <a:ext cx="38386" cy="38386"/>
          </a:xfrm>
          <a:prstGeom prst="ellipse">
            <a:avLst/>
          </a:prstGeom>
          <a:solidFill>
            <a:srgbClr val="C3C3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0069993" y="3583871"/>
            <a:ext cx="50109" cy="50109"/>
          </a:xfrm>
          <a:prstGeom prst="ellipse">
            <a:avLst/>
          </a:prstGeom>
          <a:solidFill>
            <a:srgbClr val="EDED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7996167" y="4511580"/>
            <a:ext cx="38930" cy="38930"/>
          </a:xfrm>
          <a:prstGeom prst="ellipse">
            <a:avLst/>
          </a:prstGeom>
          <a:solidFill>
            <a:srgbClr val="C0C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5549952" y="1433579"/>
            <a:ext cx="96390" cy="96390"/>
          </a:xfrm>
          <a:prstGeom prst="ellipse">
            <a:avLst/>
          </a:prstGeom>
          <a:solidFill>
            <a:srgbClr val="D8D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10594477" y="742353"/>
            <a:ext cx="107051" cy="107051"/>
          </a:xfrm>
          <a:prstGeom prst="ellipse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2748226" y="1407339"/>
            <a:ext cx="52286" cy="52286"/>
          </a:xfrm>
          <a:prstGeom prst="ellipse">
            <a:avLst/>
          </a:prstGeom>
          <a:solidFill>
            <a:srgbClr val="D8D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2981283" y="3169053"/>
            <a:ext cx="62410" cy="62410"/>
          </a:xfrm>
          <a:prstGeom prst="ellipse">
            <a:avLst/>
          </a:prstGeom>
          <a:solidFill>
            <a:srgbClr val="C5C5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3236784" y="5421320"/>
            <a:ext cx="95486" cy="95486"/>
          </a:xfrm>
          <a:prstGeom prst="ellipse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2651133" y="6143581"/>
            <a:ext cx="82158" cy="82158"/>
          </a:xfrm>
          <a:prstGeom prst="ellipse">
            <a:avLst/>
          </a:prstGeom>
          <a:solidFill>
            <a:srgbClr val="C2C2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11721215" y="1141654"/>
            <a:ext cx="37760" cy="37760"/>
          </a:xfrm>
          <a:prstGeom prst="ellipse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14400" y="1097280"/>
            <a:ext cx="1033272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500"/>
              </a:spcAft>
              <a:defRPr sz="3800">
                <a:solidFill>
                  <a:srgbClr val="FFFFFF"/>
                </a:solidFill>
                <a:latin typeface="Arial"/>
              </a:defRPr>
            </a:pPr>
            <a:r>
              <a:t>continuous as the stars</a:t>
            </a:r>
          </a:p>
          <a:p>
            <a:pPr algn="ctr">
              <a:spcAft>
                <a:spcPts val="1500"/>
              </a:spcAft>
              <a:defRPr sz="3800">
                <a:solidFill>
                  <a:srgbClr val="FFFFFF"/>
                </a:solidFill>
                <a:latin typeface="Arial"/>
              </a:defRPr>
            </a:pPr>
            <a:r>
              <a:t>never-ending line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572000" y="3931920"/>
            <a:ext cx="3017520" cy="2286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14400" y="4206240"/>
            <a:ext cx="103327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300"/>
              </a:spcAft>
              <a:defRPr sz="3400">
                <a:solidFill>
                  <a:srgbClr val="FFEEAA"/>
                </a:solidFill>
                <a:latin typeface="Microsoft YaHei"/>
              </a:defRPr>
            </a:pPr>
            <a:r>
              <a:t>繁星  ·  绵延  ·  海湾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371600" y="5029200"/>
            <a:ext cx="9418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  <a:defRPr sz="1600">
                <a:solidFill>
                  <a:srgbClr val="AACCEE"/>
                </a:solidFill>
                <a:latin typeface="Microsoft YaHei"/>
              </a:defRPr>
            </a:pPr>
            <a:r>
              <a:t>水仙沿着海湾无尽绵延，像银河中的繁星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789920" y="640080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888888"/>
                </a:solidFill>
                <a:latin typeface="Arial"/>
              </a:defRPr>
            </a:pPr>
            <a:r>
              <a:t>3/7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5C8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502920" y="4617720"/>
            <a:ext cx="822960" cy="822960"/>
          </a:xfrm>
          <a:prstGeom prst="ellipse">
            <a:avLst/>
          </a:prstGeom>
          <a:solidFill>
            <a:srgbClr val="287D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365759" y="4867036"/>
            <a:ext cx="822960" cy="822960"/>
          </a:xfrm>
          <a:prstGeom prst="ellipse">
            <a:avLst/>
          </a:prstGeom>
          <a:solidFill>
            <a:srgbClr val="287D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234439" y="4982563"/>
            <a:ext cx="822960" cy="822960"/>
          </a:xfrm>
          <a:prstGeom prst="ellipse">
            <a:avLst/>
          </a:prstGeom>
          <a:solidFill>
            <a:srgbClr val="287D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2103119" y="4902308"/>
            <a:ext cx="822960" cy="822960"/>
          </a:xfrm>
          <a:prstGeom prst="ellipse">
            <a:avLst/>
          </a:prstGeom>
          <a:solidFill>
            <a:srgbClr val="287D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971799" y="4669336"/>
            <a:ext cx="822960" cy="822960"/>
          </a:xfrm>
          <a:prstGeom prst="ellipse">
            <a:avLst/>
          </a:prstGeom>
          <a:solidFill>
            <a:srgbClr val="287D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3840480" y="4408665"/>
            <a:ext cx="822960" cy="822960"/>
          </a:xfrm>
          <a:prstGeom prst="ellipse">
            <a:avLst/>
          </a:prstGeom>
          <a:solidFill>
            <a:srgbClr val="287D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4709159" y="4260178"/>
            <a:ext cx="822960" cy="822960"/>
          </a:xfrm>
          <a:prstGeom prst="ellipse">
            <a:avLst/>
          </a:prstGeom>
          <a:solidFill>
            <a:srgbClr val="287D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5577840" y="4303556"/>
            <a:ext cx="822960" cy="822960"/>
          </a:xfrm>
          <a:prstGeom prst="ellipse">
            <a:avLst/>
          </a:prstGeom>
          <a:solidFill>
            <a:srgbClr val="287D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446520" y="4515520"/>
            <a:ext cx="822960" cy="822960"/>
          </a:xfrm>
          <a:prstGeom prst="ellipse">
            <a:avLst/>
          </a:prstGeom>
          <a:solidFill>
            <a:srgbClr val="287D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7315199" y="4782328"/>
            <a:ext cx="822960" cy="822960"/>
          </a:xfrm>
          <a:prstGeom prst="ellipse">
            <a:avLst/>
          </a:prstGeom>
          <a:solidFill>
            <a:srgbClr val="287D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183880" y="4960802"/>
            <a:ext cx="822960" cy="822960"/>
          </a:xfrm>
          <a:prstGeom prst="ellipse">
            <a:avLst/>
          </a:prstGeom>
          <a:solidFill>
            <a:srgbClr val="287D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9052560" y="4955171"/>
            <a:ext cx="822960" cy="822960"/>
          </a:xfrm>
          <a:prstGeom prst="ellipse">
            <a:avLst/>
          </a:prstGeom>
          <a:solidFill>
            <a:srgbClr val="287D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9921240" y="4768456"/>
            <a:ext cx="822960" cy="822960"/>
          </a:xfrm>
          <a:prstGeom prst="ellipse">
            <a:avLst/>
          </a:prstGeom>
          <a:solidFill>
            <a:srgbClr val="287D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0789920" y="4500852"/>
            <a:ext cx="822960" cy="822960"/>
          </a:xfrm>
          <a:prstGeom prst="ellipse">
            <a:avLst/>
          </a:prstGeom>
          <a:solidFill>
            <a:srgbClr val="287D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1658600" y="4295962"/>
            <a:ext cx="822960" cy="822960"/>
          </a:xfrm>
          <a:prstGeom prst="ellipse">
            <a:avLst/>
          </a:prstGeom>
          <a:solidFill>
            <a:srgbClr val="287D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1005840"/>
            <a:ext cx="10515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300"/>
              </a:spcAft>
              <a:defRPr sz="3400">
                <a:solidFill>
                  <a:srgbClr val="FFFFFF"/>
                </a:solidFill>
                <a:latin typeface="Arial"/>
              </a:defRPr>
            </a:pPr>
            <a:r>
              <a:t>tossing their heads in sprightly dance</a:t>
            </a:r>
          </a:p>
          <a:p>
            <a:pPr algn="ctr">
              <a:spcAft>
                <a:spcPts val="1300"/>
              </a:spcAft>
              <a:defRPr sz="3400">
                <a:solidFill>
                  <a:srgbClr val="FFFFFF"/>
                </a:solidFill>
                <a:latin typeface="Arial"/>
              </a:defRPr>
            </a:pPr>
            <a:r>
              <a:t>out-did the sparkling waves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0" y="3840480"/>
            <a:ext cx="3017520" cy="2286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411480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300"/>
              </a:spcAft>
              <a:defRPr sz="3400">
                <a:solidFill>
                  <a:srgbClr val="FFEEBB"/>
                </a:solidFill>
                <a:latin typeface="Microsoft YaHei"/>
              </a:defRPr>
            </a:pPr>
            <a:r>
              <a:t>雀跃  ·  胜过浪花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828800" y="4754880"/>
            <a:ext cx="8503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  <a:defRPr sz="1600">
                <a:solidFill>
                  <a:srgbClr val="CCEEFF"/>
                </a:solidFill>
                <a:latin typeface="Microsoft YaHei"/>
              </a:defRPr>
            </a:pPr>
            <a:r>
              <a:t>水仙昂头雀跃起舞，连闪亮的波浪都比不过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789920" y="640080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888888"/>
                </a:solidFill>
                <a:latin typeface="Arial"/>
              </a:defRPr>
            </a:pPr>
            <a:r>
              <a:t>4/7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5D403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669280" y="-274319"/>
            <a:ext cx="5120640" cy="5120640"/>
          </a:xfrm>
          <a:prstGeom prst="ellipse">
            <a:avLst/>
          </a:prstGeom>
          <a:solidFill>
            <a:srgbClr val="7A5B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6400800" y="457200"/>
            <a:ext cx="3657600" cy="3657600"/>
          </a:xfrm>
          <a:prstGeom prst="ellipse">
            <a:avLst/>
          </a:prstGeom>
          <a:solidFill>
            <a:srgbClr val="8560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7315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200"/>
              </a:spcAft>
              <a:defRPr sz="3200">
                <a:solidFill>
                  <a:srgbClr val="FFFFFF"/>
                </a:solidFill>
                <a:latin typeface="Arial"/>
              </a:defRPr>
            </a:pPr>
            <a:r>
              <a:t>I gazed — and gazed — but little thought</a:t>
            </a:r>
          </a:p>
          <a:p>
            <a:pPr algn="ctr">
              <a:spcAft>
                <a:spcPts val="1200"/>
              </a:spcAft>
              <a:defRPr sz="3200">
                <a:solidFill>
                  <a:srgbClr val="FFFFFF"/>
                </a:solidFill>
                <a:latin typeface="Arial"/>
              </a:defRPr>
            </a:pPr>
            <a:r>
              <a:t>What wealth the show to me had brought</a:t>
            </a:r>
          </a:p>
        </p:txBody>
      </p:sp>
      <p:sp>
        <p:nvSpPr>
          <p:cNvPr id="5" name="Rectangle 4"/>
          <p:cNvSpPr/>
          <p:nvPr/>
        </p:nvSpPr>
        <p:spPr>
          <a:xfrm>
            <a:off x="2560320" y="3931920"/>
            <a:ext cx="3200400" cy="2286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4206240"/>
            <a:ext cx="7315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300"/>
              </a:spcAft>
              <a:defRPr sz="3400">
                <a:solidFill>
                  <a:srgbClr val="FFE088"/>
                </a:solidFill>
                <a:latin typeface="Microsoft YaHei"/>
              </a:defRPr>
            </a:pPr>
            <a:r>
              <a:t>凝视  ·  无形财富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4846320"/>
            <a:ext cx="6858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  <a:defRPr sz="1600">
                <a:solidFill>
                  <a:srgbClr val="DDCCBB"/>
                </a:solidFill>
                <a:latin typeface="Microsoft YaHei"/>
              </a:defRPr>
            </a:pPr>
            <a:r>
              <a:t>诗人久久凝视，当时未察觉这是怎样的财富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0080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888888"/>
                </a:solidFill>
                <a:latin typeface="Arial"/>
              </a:defRPr>
            </a:pPr>
            <a:r>
              <a:t>5/7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2C5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100855" y="2007713"/>
            <a:ext cx="147897" cy="147897"/>
          </a:xfrm>
          <a:prstGeom prst="ellipse">
            <a:avLst/>
          </a:prstGeom>
          <a:solidFill>
            <a:srgbClr val="FF7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4908349" y="2240164"/>
            <a:ext cx="91586" cy="91586"/>
          </a:xfrm>
          <a:prstGeom prst="ellipse">
            <a:avLst/>
          </a:prstGeom>
          <a:solidFill>
            <a:srgbClr val="FF6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043221" y="2900768"/>
            <a:ext cx="118585" cy="118585"/>
          </a:xfrm>
          <a:prstGeom prst="ellipse">
            <a:avLst/>
          </a:prstGeom>
          <a:solidFill>
            <a:srgbClr val="FF7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4552536" y="3683362"/>
            <a:ext cx="125261" cy="125261"/>
          </a:xfrm>
          <a:prstGeom prst="ellipse">
            <a:avLst/>
          </a:prstGeom>
          <a:solidFill>
            <a:srgbClr val="FF6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753717" y="3230556"/>
            <a:ext cx="164339" cy="164339"/>
          </a:xfrm>
          <a:prstGeom prst="ellipse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4212636" y="3759107"/>
            <a:ext cx="214394" cy="214394"/>
          </a:xfrm>
          <a:prstGeom prst="ellipse">
            <a:avLst/>
          </a:prstGeom>
          <a:solidFill>
            <a:srgbClr val="FF6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4083426" y="2893936"/>
            <a:ext cx="154283" cy="154283"/>
          </a:xfrm>
          <a:prstGeom prst="ellipse">
            <a:avLst/>
          </a:prstGeom>
          <a:solidFill>
            <a:srgbClr val="FF6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5061030" y="3156088"/>
            <a:ext cx="60713" cy="60713"/>
          </a:xfrm>
          <a:prstGeom prst="ellipse">
            <a:avLst/>
          </a:prstGeom>
          <a:solidFill>
            <a:srgbClr val="FF6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7363890" y="2078431"/>
            <a:ext cx="142001" cy="142001"/>
          </a:xfrm>
          <a:prstGeom prst="ellipse">
            <a:avLst/>
          </a:prstGeom>
          <a:solidFill>
            <a:srgbClr val="FF7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883450" y="4390707"/>
            <a:ext cx="169974" cy="169974"/>
          </a:xfrm>
          <a:prstGeom prst="ellipse">
            <a:avLst/>
          </a:prstGeom>
          <a:solidFill>
            <a:srgbClr val="FF6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109186" y="4869332"/>
            <a:ext cx="78932" cy="78932"/>
          </a:xfrm>
          <a:prstGeom prst="ellipse">
            <a:avLst/>
          </a:prstGeom>
          <a:solidFill>
            <a:srgbClr val="FF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417380" y="2071466"/>
            <a:ext cx="73748" cy="73748"/>
          </a:xfrm>
          <a:prstGeom prst="ellipse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978670" y="3528888"/>
            <a:ext cx="191975" cy="191975"/>
          </a:xfrm>
          <a:prstGeom prst="ellipse">
            <a:avLst/>
          </a:prstGeom>
          <a:solidFill>
            <a:srgbClr val="FF7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487233" y="4268601"/>
            <a:ext cx="245576" cy="245576"/>
          </a:xfrm>
          <a:prstGeom prst="ellipse">
            <a:avLst/>
          </a:prstGeom>
          <a:solidFill>
            <a:srgbClr val="FF7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682304" y="1891653"/>
            <a:ext cx="203717" cy="203717"/>
          </a:xfrm>
          <a:prstGeom prst="ellipse">
            <a:avLst/>
          </a:prstGeom>
          <a:solidFill>
            <a:srgbClr val="FF7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773046" y="2318016"/>
            <a:ext cx="261572" cy="261572"/>
          </a:xfrm>
          <a:prstGeom prst="ellipse">
            <a:avLst/>
          </a:prstGeom>
          <a:solidFill>
            <a:srgbClr val="FF6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3011133" y="2092360"/>
            <a:ext cx="118024" cy="118024"/>
          </a:xfrm>
          <a:prstGeom prst="ellipse">
            <a:avLst/>
          </a:prstGeom>
          <a:solidFill>
            <a:srgbClr val="FF7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7368554" y="2719999"/>
            <a:ext cx="95726" cy="95726"/>
          </a:xfrm>
          <a:prstGeom prst="ellipse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7556914" y="4534849"/>
            <a:ext cx="247317" cy="247317"/>
          </a:xfrm>
          <a:prstGeom prst="ellipse">
            <a:avLst/>
          </a:prstGeom>
          <a:solidFill>
            <a:srgbClr val="FF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7140156" y="4749733"/>
            <a:ext cx="165943" cy="165943"/>
          </a:xfrm>
          <a:prstGeom prst="ellipse">
            <a:avLst/>
          </a:prstGeom>
          <a:solidFill>
            <a:srgbClr val="FF7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3867817" y="2142827"/>
            <a:ext cx="224871" cy="224871"/>
          </a:xfrm>
          <a:prstGeom prst="ellipse">
            <a:avLst/>
          </a:prstGeom>
          <a:solidFill>
            <a:srgbClr val="FF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8044055" y="1900858"/>
            <a:ext cx="191795" cy="191795"/>
          </a:xfrm>
          <a:prstGeom prst="ellipse">
            <a:avLst/>
          </a:prstGeom>
          <a:solidFill>
            <a:srgbClr val="FF7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3620126" y="4076466"/>
            <a:ext cx="213202" cy="213202"/>
          </a:xfrm>
          <a:prstGeom prst="ellipse">
            <a:avLst/>
          </a:prstGeom>
          <a:solidFill>
            <a:srgbClr val="FF6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5930461" y="2811288"/>
            <a:ext cx="205547" cy="205547"/>
          </a:xfrm>
          <a:prstGeom prst="ellipse">
            <a:avLst/>
          </a:prstGeom>
          <a:solidFill>
            <a:srgbClr val="FF7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7689359" y="2836782"/>
            <a:ext cx="83403" cy="83403"/>
          </a:xfrm>
          <a:prstGeom prst="ellipse">
            <a:avLst/>
          </a:prstGeom>
          <a:solidFill>
            <a:srgbClr val="FF7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4400" y="1097280"/>
            <a:ext cx="1033272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500"/>
              </a:spcAft>
              <a:defRPr sz="3800">
                <a:solidFill>
                  <a:srgbClr val="FFFFFF"/>
                </a:solidFill>
                <a:latin typeface="Arial"/>
              </a:defRPr>
            </a:pPr>
            <a:r>
              <a:t>They flash upon that inward eye</a:t>
            </a:r>
          </a:p>
          <a:p>
            <a:pPr algn="ctr">
              <a:spcAft>
                <a:spcPts val="1500"/>
              </a:spcAft>
              <a:defRPr sz="3800">
                <a:solidFill>
                  <a:srgbClr val="FFFFFF"/>
                </a:solidFill>
                <a:latin typeface="Arial"/>
              </a:defRPr>
            </a:pPr>
            <a:r>
              <a:t>the bliss of solitude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572000" y="3840480"/>
            <a:ext cx="3017520" cy="2286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14400" y="4114800"/>
            <a:ext cx="103327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300"/>
              </a:spcAft>
              <a:defRPr sz="3400">
                <a:solidFill>
                  <a:srgbClr val="FFE0AA"/>
                </a:solidFill>
                <a:latin typeface="Microsoft YaHei"/>
              </a:defRPr>
            </a:pPr>
            <a:r>
              <a:t>心灵之眼  ·  孤寂之福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371600" y="4846320"/>
            <a:ext cx="9418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  <a:defRPr sz="1600">
                <a:solidFill>
                  <a:srgbClr val="BBBBEE"/>
                </a:solidFill>
                <a:latin typeface="Microsoft YaHei"/>
              </a:defRPr>
            </a:pPr>
            <a:r>
              <a:t>躺在沙发上，空虚或沉思时，水仙在内心闪现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789920" y="640080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888888"/>
                </a:solidFill>
                <a:latin typeface="Arial"/>
              </a:defRPr>
            </a:pPr>
            <a:r>
              <a:t>6/7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3529584" y="365760"/>
            <a:ext cx="5120640" cy="5120640"/>
          </a:xfrm>
          <a:prstGeom prst="ellipse">
            <a:avLst/>
          </a:prstGeom>
          <a:solidFill>
            <a:srgbClr val="3C36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4443984" y="1280160"/>
            <a:ext cx="3291840" cy="3291840"/>
          </a:xfrm>
          <a:prstGeom prst="ellipse">
            <a:avLst/>
          </a:prstGeom>
          <a:solidFill>
            <a:srgbClr val="4C3E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5266944" y="2103120"/>
            <a:ext cx="1645920" cy="1645920"/>
          </a:xfrm>
          <a:prstGeom prst="ellipse">
            <a:avLst/>
          </a:prstGeom>
          <a:solidFill>
            <a:srgbClr val="6A64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188720"/>
            <a:ext cx="1033272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400"/>
              </a:spcAft>
              <a:defRPr sz="3600">
                <a:solidFill>
                  <a:srgbClr val="FFFFFF"/>
                </a:solidFill>
                <a:latin typeface="Arial"/>
              </a:defRPr>
            </a:pPr>
            <a:r>
              <a:t>And then my heart with pleasure fills,</a:t>
            </a:r>
          </a:p>
          <a:p>
            <a:pPr algn="ctr">
              <a:spcAft>
                <a:spcPts val="1400"/>
              </a:spcAft>
              <a:defRPr sz="3600">
                <a:solidFill>
                  <a:srgbClr val="FFFFFF"/>
                </a:solidFill>
                <a:latin typeface="Arial"/>
              </a:defRPr>
            </a:pPr>
            <a:r>
              <a:t>And dances with the daffodils.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0" y="3931920"/>
            <a:ext cx="3017520" cy="2286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4206240"/>
            <a:ext cx="103327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400"/>
              </a:spcAft>
              <a:defRPr sz="3600">
                <a:solidFill>
                  <a:srgbClr val="FFE088"/>
                </a:solidFill>
                <a:latin typeface="Microsoft YaHei"/>
              </a:defRPr>
            </a:pPr>
            <a:r>
              <a:t>心  ·  喜悦  ·  同舞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5029200"/>
            <a:ext cx="8503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  <a:defRPr sz="1600">
                <a:solidFill>
                  <a:srgbClr val="CCCCDD"/>
                </a:solidFill>
                <a:latin typeface="Microsoft YaHei"/>
              </a:defRPr>
            </a:pPr>
            <a:r>
              <a:t>心中充满喜悦，也随水仙一起跳舞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0" y="640080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888888"/>
                </a:solidFill>
                <a:latin typeface="Arial"/>
              </a:defRPr>
            </a:pPr>
            <a:r>
              <a:t>7/7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