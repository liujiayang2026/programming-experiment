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1051560"/>
            <a:ext cx="6400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D4A843"/>
                </a:solidFill>
                <a:latin typeface="微软雅黑"/>
              </a:defRPr>
            </a:pPr>
            <a:r>
              <a:t>毛泽东的“神机妙算”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2344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FFFFFF"/>
                </a:solidFill>
                <a:latin typeface="微软雅黑"/>
              </a:defRPr>
            </a:pPr>
            <a:r>
              <a:t>——巧渡金沙江背后的故事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920240"/>
            <a:ext cx="45720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240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EECCBB"/>
                </a:solidFill>
                <a:latin typeface="楷体"/>
              </a:defRPr>
            </a:pPr>
            <a:r>
              <a:t>“一次调动蒋介石和龙云的心理战”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BB9988"/>
                </a:solidFill>
                <a:latin typeface="微软雅黑"/>
              </a:defRPr>
            </a:pPr>
            <a:r>
              <a:t>演讲人：XXX  |  2026年X月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三方势力——谁在这盘棋上？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199" y="1097280"/>
            <a:ext cx="2468880" cy="2834640"/>
          </a:xfrm>
          <a:prstGeom prst="rect">
            <a:avLst/>
          </a:prstGeom>
          <a:solidFill>
            <a:srgbClr val="FDF0F0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199" y="1097280"/>
            <a:ext cx="2468880" cy="54864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59" y="123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C41E3A"/>
                </a:solidFill>
                <a:latin typeface="微软雅黑"/>
              </a:defRPr>
            </a:pPr>
            <a:r>
              <a:t>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39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D2D2D"/>
                </a:solidFill>
                <a:latin typeface="微软雅黑"/>
              </a:defRPr>
            </a:pPr>
            <a:r>
              <a:t>毛泽东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中央红军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59" y="2331720"/>
            <a:ext cx="2194560" cy="777240"/>
          </a:xfrm>
          <a:prstGeom prst="roundRect">
            <a:avLst/>
          </a:prstGeom>
          <a:solidFill>
            <a:srgbClr val="FFFAF0"/>
          </a:solidFill>
          <a:ln>
            <a:solidFill>
              <a:srgbClr val="FFF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500"/>
              </a:lnSpc>
              <a:defRPr sz="1100">
                <a:solidFill>
                  <a:srgbClr val="C41E3A"/>
                </a:solidFill>
                <a:latin typeface="微软雅黑"/>
              </a:defRPr>
            </a:pPr>
            <a:r>
              <a:t>“只要能将滇军调出来，就是胜利。”</a:t>
            </a:r>
          </a:p>
        </p:txBody>
      </p:sp>
      <p:sp>
        <p:nvSpPr>
          <p:cNvPr id="10" name="Isosceles Triangle 9"/>
          <p:cNvSpPr/>
          <p:nvPr/>
        </p:nvSpPr>
        <p:spPr>
          <a:xfrm rot="10800000">
            <a:off x="1600199" y="3108960"/>
            <a:ext cx="182880" cy="137160"/>
          </a:xfrm>
          <a:prstGeom prst="triangle">
            <a:avLst/>
          </a:prstGeom>
          <a:solidFill>
            <a:srgbClr val="FF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39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3万红军主力 · 灵活机动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59" y="1097280"/>
            <a:ext cx="2468880" cy="2834640"/>
          </a:xfrm>
          <a:prstGeom prst="rect">
            <a:avLst/>
          </a:prstGeom>
          <a:solidFill>
            <a:srgbClr val="EEF2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59" y="1097280"/>
            <a:ext cx="246888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19" y="123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1E3A5F"/>
                </a:solidFill>
                <a:latin typeface="微软雅黑"/>
              </a:defRPr>
            </a:pPr>
            <a:r>
              <a:t>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8999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D2D2D"/>
                </a:solidFill>
                <a:latin typeface="微软雅黑"/>
              </a:defRPr>
            </a:pPr>
            <a:r>
              <a:t>蒋介石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8999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“剿匪”总司令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19" y="2331720"/>
            <a:ext cx="2194560" cy="777240"/>
          </a:xfrm>
          <a:prstGeom prst="roundRect">
            <a:avLst/>
          </a:prstGeom>
          <a:solidFill>
            <a:srgbClr val="F0F5FF"/>
          </a:solidFill>
          <a:ln>
            <a:solidFill>
              <a:srgbClr val="F0F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500"/>
              </a:lnSpc>
              <a:defRPr sz="1100">
                <a:solidFill>
                  <a:srgbClr val="1E3A5F"/>
                </a:solidFill>
                <a:latin typeface="微软雅黑"/>
              </a:defRPr>
            </a:pPr>
            <a:r>
              <a:t>“滇军快去贵阳！快！”</a:t>
            </a:r>
          </a:p>
        </p:txBody>
      </p:sp>
      <p:sp>
        <p:nvSpPr>
          <p:cNvPr id="18" name="Isosceles Triangle 17"/>
          <p:cNvSpPr/>
          <p:nvPr/>
        </p:nvSpPr>
        <p:spPr>
          <a:xfrm rot="10800000">
            <a:off x="4480560" y="3108960"/>
            <a:ext cx="182880" cy="137160"/>
          </a:xfrm>
          <a:prstGeom prst="triangle">
            <a:avLst/>
          </a:prstGeom>
          <a:solidFill>
            <a:srgbClr val="F0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8999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数十万大军 · 指挥僵化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097280"/>
            <a:ext cx="2468880" cy="2834640"/>
          </a:xfrm>
          <a:prstGeom prst="rect">
            <a:avLst/>
          </a:prstGeom>
          <a:solidFill>
            <a:srgbClr val="F2F8EE"/>
          </a:solidFill>
          <a:ln w="12700">
            <a:solidFill>
              <a:srgbClr val="5A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1097280"/>
            <a:ext cx="2468880" cy="54864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23443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5A7D3A"/>
                </a:solidFill>
                <a:latin typeface="微软雅黑"/>
              </a:defRPr>
            </a:pPr>
            <a:r>
              <a:t>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10"/>
              </a:lnSpc>
              <a:spcAft>
                <a:spcPts val="0"/>
              </a:spcAft>
              <a:defRPr sz="1700" b="1">
                <a:solidFill>
                  <a:srgbClr val="2D2D2D"/>
                </a:solidFill>
                <a:latin typeface="微软雅黑"/>
              </a:defRPr>
            </a:pPr>
            <a:r>
              <a:t>龙云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59" y="1874519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“云南王”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331720"/>
            <a:ext cx="2194560" cy="777240"/>
          </a:xfrm>
          <a:prstGeom prst="roundRect">
            <a:avLst/>
          </a:prstGeom>
          <a:solidFill>
            <a:srgbClr val="F5FAF0"/>
          </a:solidFill>
          <a:ln>
            <a:solidFill>
              <a:srgbClr val="F5F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ts val="1500"/>
              </a:lnSpc>
              <a:defRPr sz="1100">
                <a:solidFill>
                  <a:srgbClr val="5A7D3A"/>
                </a:solidFill>
                <a:latin typeface="微软雅黑"/>
              </a:defRPr>
            </a:pPr>
            <a:r>
              <a:t>“我太难了……红军和中央军我都惹不起。”</a:t>
            </a:r>
          </a:p>
        </p:txBody>
      </p:sp>
      <p:sp>
        <p:nvSpPr>
          <p:cNvPr id="26" name="Isosceles Triangle 25"/>
          <p:cNvSpPr/>
          <p:nvPr/>
        </p:nvSpPr>
        <p:spPr>
          <a:xfrm rot="10800000">
            <a:off x="7360920" y="3108960"/>
            <a:ext cx="182880" cy="137160"/>
          </a:xfrm>
          <a:prstGeom prst="triangle">
            <a:avLst/>
          </a:prstGeom>
          <a:solidFill>
            <a:srgbClr val="F5FA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59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云南地方军阀 · 两面受敌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8B1A1A"/>
                </a:solidFill>
                <a:latin typeface="微软雅黑"/>
              </a:defRPr>
            </a:pPr>
            <a:r>
              <a:t>核心矛盾：蒋介石与龙云“面和心不和”，毛泽东巧妙利用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核心矛盾 + 数据快闪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——“面和心不和”的局面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804672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8046720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3444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蒋介石 ↔ 龙云：“面和心不和”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57276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1E3A5F"/>
                </a:solidFill>
                <a:latin typeface="微软雅黑"/>
              </a:defRPr>
            </a:pPr>
            <a:r>
              <a:t>蒋介石：“剿灭红军是第一要务，但也要借机消灭地方军阀”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92807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5A7D3A"/>
                </a:solidFill>
                <a:latin typeface="微软雅黑"/>
              </a:defRPr>
            </a:pPr>
            <a:r>
              <a:t>龙云：“你蒋介石想借剿共之名把我云南也吃了？我不上当！”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1284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8B1A1A"/>
                </a:solidFill>
                <a:latin typeface="微软雅黑"/>
              </a:defRPr>
            </a:pPr>
            <a:r>
              <a:t>毛泽东：“这就是我要的效果。”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" y="288036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25780" y="2880360"/>
            <a:ext cx="192024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1">
                <a:solidFill>
                  <a:srgbClr val="8B1A1A"/>
                </a:solidFill>
                <a:latin typeface="微软雅黑"/>
              </a:defRPr>
            </a:pPr>
            <a:r>
              <a:t>1935.5.3–5.9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1935年5月3日至9日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83180" y="288036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83180" y="2880360"/>
            <a:ext cx="192024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890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1">
                <a:solidFill>
                  <a:srgbClr val="8B1A1A"/>
                </a:solidFill>
                <a:latin typeface="微软雅黑"/>
              </a:defRPr>
            </a:pPr>
            <a:r>
              <a:t>3万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289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红军主力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40580" y="288036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40580" y="2880360"/>
            <a:ext cx="192024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630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1">
                <a:solidFill>
                  <a:srgbClr val="8B1A1A"/>
                </a:solidFill>
                <a:latin typeface="微软雅黑"/>
              </a:defRPr>
            </a:pPr>
            <a:r>
              <a:t>7 只小船 + 37 名船工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63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渡江工具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97980" y="2880360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97980" y="2880360"/>
            <a:ext cx="192024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3700" y="297180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1">
                <a:solidFill>
                  <a:srgbClr val="8B1A1A"/>
                </a:solidFill>
                <a:latin typeface="微软雅黑"/>
              </a:defRPr>
            </a:pPr>
            <a:r>
              <a:t>跳出数十万敌军包围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37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0">
                <a:solidFill>
                  <a:srgbClr val="666666"/>
                </a:solidFill>
                <a:latin typeface="微软雅黑"/>
              </a:defRPr>
            </a:pPr>
            <a:r>
              <a:t>战果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8B1A1A"/>
                </a:solidFill>
                <a:latin typeface="微软雅黑"/>
              </a:defRPr>
            </a:pPr>
            <a:r>
              <a:t>毛泽东的目标：用最小的代价，跳出包围圈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第一招：调虎离山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——让蒋介石“帮忙”调走滇军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3840480" cy="914400"/>
          </a:xfrm>
          <a:prstGeom prst="rect">
            <a:avLst/>
          </a:prstGeom>
          <a:solidFill>
            <a:srgbClr val="FCF0F0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3840480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C41E3A"/>
                </a:solidFill>
                <a:latin typeface="微软雅黑"/>
              </a:defRPr>
            </a:pPr>
            <a:r>
              <a:t>毛泽东语录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8132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8B1A1A"/>
                </a:solidFill>
                <a:latin typeface="楷体"/>
              </a:defRPr>
            </a:pPr>
            <a:r>
              <a:t>“只要能将滇军调出来，就是胜利。”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14300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143000"/>
            <a:ext cx="4572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21615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E3A5F"/>
                </a:solidFill>
                <a:latin typeface="微软雅黑"/>
              </a:defRPr>
            </a:pPr>
            <a:r>
              <a:t>① 位攻贵阳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49047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红军主力虚张声势，摆出进攻贵阳的架势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6492240" y="2039112"/>
            <a:ext cx="228600" cy="128016"/>
          </a:xfrm>
          <a:prstGeom prst="down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19456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754880" y="2194560"/>
            <a:ext cx="45720" cy="86868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2677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C41E3A"/>
                </a:solidFill>
                <a:latin typeface="微软雅黑"/>
              </a:defRPr>
            </a:pPr>
            <a:r>
              <a:t>② 蒋介石急电✉️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25420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蒋介石大惊失色，急调滇军孙渡三个旅星夜驰援贵阳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492240" y="3090672"/>
            <a:ext cx="228600" cy="128016"/>
          </a:xfrm>
          <a:prstGeom prst="downArrow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54880" y="3246120"/>
            <a:ext cx="39319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54880" y="3246120"/>
            <a:ext cx="45720" cy="86868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31927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2D2D2D"/>
                </a:solidFill>
                <a:latin typeface="微软雅黑"/>
              </a:defRPr>
            </a:pPr>
            <a:r>
              <a:t>③ 滇军被调走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83480" y="3593591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挡路的滇军一走，金沙江防线门户大开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31720"/>
            <a:ext cx="3840480" cy="1828800"/>
          </a:xfrm>
          <a:prstGeom prst="rect">
            <a:avLst/>
          </a:prstGeom>
          <a:solidFill>
            <a:srgbClr val="FCF4E0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331720"/>
            <a:ext cx="3840480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386584"/>
            <a:ext cx="3566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C41E3A"/>
                </a:solidFill>
                <a:latin typeface="微软雅黑"/>
              </a:defRPr>
            </a:pPr>
            <a:r>
              <a:t>蒋介石急电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2487168"/>
            <a:ext cx="32918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1400" b="1">
                <a:solidFill>
                  <a:srgbClr val="1B1A1A"/>
                </a:solidFill>
                <a:latin typeface="微软雅黑"/>
              </a:defRPr>
            </a:pPr>
            <a:r>
              <a:t>“孙渡！限你3个旅</a:t>
            </a:r>
            <a:br/>
            <a:r>
              <a:t>星夜驰援贵阳！</a:t>
            </a:r>
            <a:br/>
            <a:r>
              <a:t>不得有误！”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89120"/>
            <a:ext cx="8229600" cy="411480"/>
          </a:xfrm>
          <a:prstGeom prst="rect">
            <a:avLst/>
          </a:prstGeom>
          <a:solidFill>
            <a:srgbClr val="8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FFFFFF"/>
                </a:solidFill>
                <a:latin typeface="微软雅黑"/>
              </a:defRPr>
            </a:pPr>
            <a:r>
              <a:t>结果：毛泽东成功让蒋介石“帮”自己调走了挡路的滇军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第二招：虚晃一枪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——“兵临贵阳逼昆明”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389120" cy="2743200"/>
          </a:xfrm>
          <a:prstGeom prst="rect">
            <a:avLst/>
          </a:prstGeom>
          <a:solidFill>
            <a:srgbClr val="F5F0E5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38912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70432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E3A5F"/>
                </a:solidFill>
                <a:latin typeface="微软雅黑"/>
              </a:defRPr>
            </a:pPr>
            <a:r>
              <a:t>云贵地图概览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15087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微软雅黑"/>
              </a:defRPr>
            </a:pPr>
            <a:r>
              <a:t>贵阳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28600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66666"/>
                </a:solidFill>
                <a:latin typeface="微软雅黑"/>
              </a:defRPr>
            </a:pPr>
            <a:r>
              <a:t>昆明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8B1A1A"/>
                </a:solidFill>
                <a:latin typeface="微软雅黑"/>
              </a:defRPr>
            </a:pPr>
            <a:r>
              <a:t>金沙江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8288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1">
                <a:solidFill>
                  <a:srgbClr val="C41E3A"/>
                </a:solidFill>
                <a:latin typeface="微软雅黑"/>
              </a:defRPr>
            </a:pPr>
            <a:r>
              <a:t>↘ 红军急行军</a:t>
            </a:r>
            <a:br/>
            <a:r>
              <a:t>60km/天 逼近15km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286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50"/>
              </a:lnSpc>
              <a:spcAft>
                <a:spcPts val="0"/>
              </a:spcAft>
              <a:defRPr sz="900" b="1">
                <a:solidFill>
                  <a:srgbClr val="5A7D3A"/>
                </a:solidFill>
                <a:latin typeface="微软雅黑"/>
              </a:defRPr>
            </a:pPr>
            <a:r>
              <a:t>← 江防军</a:t>
            </a:r>
            <a:br/>
            <a:r>
              <a:t>缩回昆明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097280"/>
            <a:ext cx="3657600" cy="2743200"/>
          </a:xfrm>
          <a:prstGeom prst="rect">
            <a:avLst/>
          </a:prstGeom>
          <a:solidFill>
            <a:srgbClr val="F5FAF0"/>
          </a:solidFill>
          <a:ln w="12700">
            <a:solidFill>
              <a:srgbClr val="5A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097280"/>
            <a:ext cx="3657600" cy="36576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5A7D3A"/>
                </a:solidFill>
                <a:latin typeface="微软雅黑"/>
              </a:defRPr>
            </a:pPr>
            <a:r>
              <a:t>龙云的纠结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15087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40"/>
              </a:lnSpc>
              <a:spcAft>
                <a:spcPts val="0"/>
              </a:spcAft>
              <a:defRPr sz="1400" b="1">
                <a:solidFill>
                  <a:srgbClr val="2D2D2D"/>
                </a:solidFill>
                <a:latin typeface="微软雅黑"/>
              </a:defRPr>
            </a:pPr>
            <a:r>
              <a:t>保昆明？保江防？</a:t>
            </a:r>
            <a:br/>
            <a:r>
              <a:t>我太难了……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14884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① 担心昆明老巢失守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46888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② 担心中央军入滇夺权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278892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2D2D2D"/>
                </a:solidFill>
                <a:latin typeface="微软雅黑"/>
              </a:defRPr>
            </a:pPr>
            <a:r>
              <a:t>③ 紧急调回金沙江守军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108960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2D2D2D"/>
                </a:solidFill>
                <a:latin typeface="微软雅黑"/>
              </a:defRPr>
            </a:pPr>
            <a:r>
              <a:t>→ 江防空虚！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solidFill>
            <a:srgbClr val="8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微软雅黑"/>
              </a:defRPr>
            </a:pPr>
            <a:r>
              <a:t>核心逻辑：两害相权，先保老巢 —— 这正是毛泽东要的效果！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第三招：“龙云献图”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——天降奇遇，如虎添翼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572000" cy="1645920"/>
          </a:xfrm>
          <a:prstGeom prst="rect">
            <a:avLst/>
          </a:prstGeom>
          <a:solidFill>
            <a:srgbClr val="F8EEE0"/>
          </a:solidFill>
          <a:ln w="127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4572000" cy="36576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8B1A1A"/>
                </a:solidFill>
                <a:latin typeface="微软雅黑"/>
              </a:defRPr>
            </a:pPr>
            <a:r>
              <a:t>&lt; 龙云的货车 被红军截获 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80"/>
              </a:lnSpc>
              <a:spcAft>
                <a:spcPts val="0"/>
              </a:spcAft>
              <a:defRPr sz="1400" b="1">
                <a:solidFill>
                  <a:srgbClr val="2D2D2D"/>
                </a:solidFill>
                <a:latin typeface="微软雅黑"/>
              </a:defRPr>
            </a:pPr>
            <a:r>
              <a:t>红军在曲靖至马龙公路上</a:t>
            </a:r>
            <a:br/>
            <a:r>
              <a:t>截获龙云送给薛岳的卡车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10972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170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8B1A1A"/>
                </a:solidFill>
                <a:latin typeface="微软雅黑"/>
              </a:defRPr>
            </a:pPr>
            <a:r>
              <a:t>地图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20余份云南省军用地图（十万分之一）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86600" y="109728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117043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8B1A1A"/>
                </a:solidFill>
                <a:latin typeface="微软雅黑"/>
              </a:defRPr>
            </a:pPr>
            <a:r>
              <a:t>白药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78040" y="146304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云南白药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2080" y="219456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2267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8B1A1A"/>
                </a:solidFill>
                <a:latin typeface="微软雅黑"/>
              </a:defRPr>
            </a:pPr>
            <a:r>
              <a:t>火腿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560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宣威火腿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86600" y="2194560"/>
            <a:ext cx="16916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78040" y="2267712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8B1A1A"/>
                </a:solidFill>
                <a:latin typeface="微软雅黑"/>
              </a:defRPr>
            </a:pPr>
            <a:r>
              <a:t>普洱茶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2560320"/>
            <a:ext cx="1508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普洱茶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971800"/>
            <a:ext cx="8412480" cy="914400"/>
          </a:xfrm>
          <a:prstGeom prst="rect">
            <a:avLst/>
          </a:prstGeom>
          <a:solidFill>
            <a:srgbClr val="1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2971800"/>
            <a:ext cx="841248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0632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D4A843"/>
                </a:solidFill>
                <a:latin typeface="微软雅黑"/>
              </a:defRPr>
            </a:pPr>
            <a:r>
              <a:t>毛泽东幽默点评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“当年刘备入川有张松献图，今天红军入滇有龙云‘献图’！”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这份“意外”大礼，让红军对金沙江沿岸地形了如指掌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第四招：伪装奇袭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——“换装！” 兵不血刃连取三城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743200" cy="2011680"/>
          </a:xfrm>
          <a:prstGeom prst="rect">
            <a:avLst/>
          </a:prstGeom>
          <a:solidFill>
            <a:srgbClr val="F5EEEE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743200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C41E3A"/>
                </a:solidFill>
                <a:latin typeface="微软雅黑"/>
              </a:defRPr>
            </a:pPr>
            <a:r>
              <a:t>红军原貌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破旧军装</a:t>
            </a:r>
            <a:br/>
            <a:r>
              <a:t>赤脚赶路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828800"/>
            <a:ext cx="246888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37560" y="13716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D4A843"/>
                </a:solidFill>
                <a:latin typeface="微软雅黑"/>
              </a:defRPr>
            </a:pPr>
            <a:r>
              <a:t>换装！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19659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666666"/>
                </a:solidFill>
                <a:latin typeface="微软雅黑"/>
              </a:defRPr>
            </a:pPr>
            <a:r>
              <a:t>穿上国民党军装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97280"/>
            <a:ext cx="2743200" cy="2011680"/>
          </a:xfrm>
          <a:prstGeom prst="rect">
            <a:avLst/>
          </a:prstGeom>
          <a:solidFill>
            <a:srgbClr val="F0F4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097280"/>
            <a:ext cx="27432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88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E3A5F"/>
                </a:solidFill>
                <a:latin typeface="微软雅黑"/>
              </a:defRPr>
            </a:pPr>
            <a:r>
              <a:t>“中央军”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600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国民党军装</a:t>
            </a:r>
            <a:br/>
            <a:r>
              <a:t>昂首挺胸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3375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337560"/>
            <a:ext cx="2286000" cy="36576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禄劝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县长带士绅出城欢迎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33375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566160" y="3337560"/>
            <a:ext cx="22860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0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武定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主动提供粮草军饷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3375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337560"/>
            <a:ext cx="2286000" cy="3657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33832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8B1A1A"/>
                </a:solidFill>
                <a:latin typeface="微软雅黑"/>
              </a:defRPr>
            </a:pPr>
            <a:r>
              <a:t>元谋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3657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电话通知“中央军到了”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禄劝县长第二天得知真相后的表情：震惊！一枪未发，赢得3天宝贵时间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E83E3E"/>
                </a:solidFill>
                <a:latin typeface="微软雅黑"/>
              </a:defRPr>
            </a:pPr>
            <a:r>
              <a:t>第五招：夜袭皎平渡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899BB"/>
                </a:solidFill>
                <a:latin typeface="微软雅黑"/>
              </a:defRPr>
            </a:pPr>
            <a:r>
              <a:t>——天降奇兵，夺取生命线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4023360" cy="1463040"/>
          </a:xfrm>
          <a:prstGeom prst="rect">
            <a:avLst/>
          </a:prstGeom>
          <a:solidFill>
            <a:srgbClr val="181F2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4023360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67799"/>
                </a:solidFill>
                <a:latin typeface="微软雅黑"/>
              </a:defRPr>
            </a:pPr>
            <a:r>
              <a:t>刘伯承带队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3E3E"/>
                </a:solidFill>
                <a:latin typeface="微软雅黑"/>
              </a:defRPr>
            </a:pPr>
            <a:r>
              <a:t>干部团一昼夜急行军 180 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4709160" y="1097280"/>
            <a:ext cx="4023360" cy="1463040"/>
          </a:xfrm>
          <a:prstGeom prst="rect">
            <a:avLst/>
          </a:prstGeom>
          <a:solidFill>
            <a:srgbClr val="181F2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09160" y="1097280"/>
            <a:ext cx="4023360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18872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67799"/>
                </a:solidFill>
                <a:latin typeface="微软雅黑"/>
              </a:defRPr>
            </a:pPr>
            <a:r>
              <a:t>欺骗战术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481328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3E3E"/>
                </a:solidFill>
                <a:latin typeface="微软雅黑"/>
              </a:defRPr>
            </a:pPr>
            <a:r>
              <a:t>穿敌军军服，假扮探子回营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34639"/>
            <a:ext cx="4023360" cy="1463040"/>
          </a:xfrm>
          <a:prstGeom prst="rect">
            <a:avLst/>
          </a:prstGeom>
          <a:solidFill>
            <a:srgbClr val="181F2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34639"/>
            <a:ext cx="4023360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9260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67799"/>
                </a:solidFill>
                <a:latin typeface="微软雅黑"/>
              </a:defRPr>
            </a:pPr>
            <a:r>
              <a:t>意外收获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18687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3E3E"/>
                </a:solidFill>
                <a:latin typeface="微软雅黑"/>
              </a:defRPr>
            </a:pPr>
            <a:r>
              <a:t>缴获 7 条船 + 37 名船工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9160" y="2834639"/>
            <a:ext cx="4023360" cy="1463040"/>
          </a:xfrm>
          <a:prstGeom prst="rect">
            <a:avLst/>
          </a:prstGeom>
          <a:solidFill>
            <a:srgbClr val="181F2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09160" y="2834639"/>
            <a:ext cx="4023360" cy="36576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926079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67799"/>
                </a:solidFill>
                <a:latin typeface="微软雅黑"/>
              </a:defRPr>
            </a:pPr>
            <a:r>
              <a:t>侧翼掩护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3218687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Aft>
                <a:spcPts val="0"/>
              </a:spcAft>
              <a:defRPr sz="1500" b="1">
                <a:solidFill>
                  <a:srgbClr val="E83E3E"/>
                </a:solidFill>
                <a:latin typeface="微软雅黑"/>
              </a:defRPr>
            </a:pPr>
            <a:r>
              <a:t>后卫红 9 军团树桔渡同步过江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solidFill>
            <a:srgbClr val="0D121E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7788AA"/>
                </a:solidFill>
                <a:latin typeface="微软雅黑"/>
              </a:defRPr>
            </a:pPr>
            <a:r>
              <a:t>“别动！我们是红军！” —— 北岸守军还在睡梦中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8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D4A843"/>
                </a:solidFill>
                <a:latin typeface="微软雅黑"/>
              </a:defRPr>
            </a:pPr>
            <a:r>
              <a:t>渡江——七天七夜的生命线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685800"/>
            <a:ext cx="64008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D4A843"/>
                </a:solidFill>
                <a:latin typeface="微软雅黑"/>
              </a:defRPr>
            </a:pPr>
            <a:r>
              <a:t>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1508760" y="713232"/>
            <a:ext cx="18288" cy="9144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39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AAAAAA"/>
                </a:solidFill>
                <a:latin typeface="微软雅黑"/>
              </a:defRPr>
            </a:pPr>
            <a:r>
              <a:t>5.4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48839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渡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713232"/>
            <a:ext cx="18288" cy="91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AAAAAA"/>
                </a:solidFill>
                <a:latin typeface="微软雅黑"/>
              </a:defRPr>
            </a:pPr>
            <a:r>
              <a:t>5.5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11880" y="713232"/>
            <a:ext cx="18288" cy="91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AAAAAA"/>
                </a:solidFill>
                <a:latin typeface="微软雅黑"/>
              </a:defRPr>
            </a:pPr>
            <a:r>
              <a:t>5.6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713232"/>
            <a:ext cx="18288" cy="91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0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AAAAAA"/>
                </a:solidFill>
                <a:latin typeface="微软雅黑"/>
              </a:defRPr>
            </a:pPr>
            <a:r>
              <a:t>5.7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0" y="713232"/>
            <a:ext cx="18288" cy="91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AAAAAA"/>
                </a:solidFill>
                <a:latin typeface="微软雅黑"/>
              </a:defRPr>
            </a:pPr>
            <a:r>
              <a:t>5.8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713232"/>
            <a:ext cx="18288" cy="914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73152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C41E3A"/>
                </a:solidFill>
                <a:latin typeface="微软雅黑"/>
              </a:defRPr>
            </a:pPr>
            <a:r>
              <a:t>5.9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896112"/>
            <a:ext cx="91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10"/>
              </a:lnSpc>
              <a:spcAft>
                <a:spcPts val="0"/>
              </a:spcAft>
              <a:defRPr sz="700" b="0">
                <a:solidFill>
                  <a:srgbClr val="777777"/>
                </a:solidFill>
                <a:latin typeface="微软雅黑"/>
              </a:defRPr>
            </a:pPr>
            <a:r>
              <a:t>完成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19" y="713232"/>
            <a:ext cx="18288" cy="914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1188720"/>
            <a:ext cx="1965960" cy="1783080"/>
          </a:xfrm>
          <a:prstGeom prst="rect">
            <a:avLst/>
          </a:prstGeom>
          <a:solidFill>
            <a:srgbClr val="25222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1188720"/>
            <a:ext cx="196596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1325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D4A843"/>
                </a:solidFill>
                <a:latin typeface="微软雅黑"/>
              </a:defRPr>
            </a:pPr>
            <a:r>
              <a:t>3万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19202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红军主力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240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AAAAAA"/>
                </a:solidFill>
                <a:latin typeface="微软雅黑"/>
              </a:defRPr>
            </a:pPr>
            <a:r>
              <a:t>全部安全过江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1188720"/>
            <a:ext cx="1965960" cy="1783080"/>
          </a:xfrm>
          <a:prstGeom prst="rect">
            <a:avLst/>
          </a:prstGeom>
          <a:solidFill>
            <a:srgbClr val="25222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06040" y="1188720"/>
            <a:ext cx="196596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97480" y="1325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D4A843"/>
                </a:solidFill>
                <a:latin typeface="微软雅黑"/>
              </a:defRPr>
            </a:pPr>
            <a: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80" y="19202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只小木船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80" y="2240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AAAAAA"/>
                </a:solidFill>
                <a:latin typeface="微软雅黑"/>
              </a:defRPr>
            </a:pPr>
            <a:r>
              <a:t>来回摆渡不休止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1188720"/>
            <a:ext cx="1965960" cy="1783080"/>
          </a:xfrm>
          <a:prstGeom prst="rect">
            <a:avLst/>
          </a:prstGeom>
          <a:solidFill>
            <a:srgbClr val="25222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1188720"/>
            <a:ext cx="196596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1325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D4A843"/>
                </a:solidFill>
                <a:latin typeface="微软雅黑"/>
              </a:defRPr>
            </a:pPr>
            <a:r>
              <a:t>37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19202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名船工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6320" y="2240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AAAAAA"/>
                </a:solidFill>
                <a:latin typeface="微软雅黑"/>
              </a:defRPr>
            </a:pPr>
            <a:r>
              <a:t>歇人不歇船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03720" y="1188720"/>
            <a:ext cx="1965960" cy="1783080"/>
          </a:xfrm>
          <a:prstGeom prst="rect">
            <a:avLst/>
          </a:prstGeom>
          <a:solidFill>
            <a:srgbClr val="252220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03720" y="1188720"/>
            <a:ext cx="196596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1325880"/>
            <a:ext cx="1783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D4A843"/>
                </a:solidFill>
                <a:latin typeface="微软雅黑"/>
              </a:defRPr>
            </a:pPr>
            <a:r>
              <a:t>7天7夜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1920240"/>
            <a:ext cx="1783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FFFFF"/>
                </a:solidFill>
                <a:latin typeface="微软雅黑"/>
              </a:defRPr>
            </a:pPr>
            <a:r>
              <a:t>生命线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2240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00"/>
              </a:lnSpc>
              <a:spcAft>
                <a:spcPts val="0"/>
              </a:spcAft>
              <a:defRPr sz="1000" b="0">
                <a:solidFill>
                  <a:srgbClr val="AAAAAA"/>
                </a:solidFill>
                <a:latin typeface="微软雅黑"/>
              </a:defRPr>
            </a:pPr>
            <a:r>
              <a:t>比追兵提前24–48小时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200400"/>
            <a:ext cx="8229600" cy="594360"/>
          </a:xfrm>
          <a:prstGeom prst="rect">
            <a:avLst/>
          </a:prstGeom>
          <a:solidFill>
            <a:srgbClr val="302A25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7200" y="3200400"/>
            <a:ext cx="8229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32735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CCBB99"/>
                </a:solidFill>
                <a:latin typeface="楷体"/>
              </a:defRPr>
            </a:pPr>
            <a:r>
              <a:t>“我撑了一辈子船，没想过帮红军撑船能写进历史。” —— 皎平渡船工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0690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D4A843"/>
                </a:solidFill>
                <a:latin typeface="楷体"/>
              </a:defRPr>
            </a:pPr>
            <a:r>
              <a:t>“金沙水拍云崖暖”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888888"/>
                </a:solidFill>
                <a:latin typeface="微软雅黑"/>
              </a:defRPr>
            </a:pPr>
            <a:r>
              <a:t>—— 毛泽东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神机妙算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——为什么毛泽东能调得动这些敌人？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4114800" cy="45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C41E3A"/>
                </a:solidFill>
                <a:latin typeface="微软雅黑"/>
              </a:defRPr>
            </a:pPr>
            <a:r>
              <a:t>心理战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抓住蒋介石多疑易惊的弱点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659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越是紧张越要微操，越微操越出错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097280"/>
            <a:ext cx="411480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0" y="11887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矛盾利用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48132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龙云两面受敌：既怕红军又防中央军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6596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“面和心不和”是最大的突破口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017520"/>
            <a:ext cx="4114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D4A843"/>
                </a:solidFill>
                <a:latin typeface="微软雅黑"/>
              </a:defRPr>
            </a:pPr>
            <a:r>
              <a:t>情报领先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0156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军委二局破译敌台密码 + 龙云“献图”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862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敌军动向了如指掌，地图在手如虎添翼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30175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8B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017520"/>
            <a:ext cx="4114800" cy="457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310896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8B1A1A"/>
                </a:solidFill>
                <a:latin typeface="微软雅黑"/>
              </a:defRPr>
            </a:pPr>
            <a:r>
              <a:t>敏捷决策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40156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扁平化指挥，直接采纳前线将领建议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374903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四渡赤水后指挥体系成熟，快速响应战场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数据一览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——“巧”在哪里？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3474720" cy="2560320"/>
          </a:xfrm>
          <a:prstGeom prst="rect">
            <a:avLst/>
          </a:prstGeom>
          <a:solidFill>
            <a:srgbClr val="F8EEEE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3474720" cy="45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C41E3A"/>
                </a:solidFill>
                <a:latin typeface="微软雅黑"/>
              </a:defRPr>
            </a:pPr>
            <a:r>
              <a:t>毛泽东 / 红军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572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兵力：3万余人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568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渡河工具：7只木船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3408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过江时间：7天7夜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渡口控制：先遣队智取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调动敌人：借力打力</a:t>
            </a:r>
          </a:p>
        </p:txBody>
      </p:sp>
      <p:sp>
        <p:nvSpPr>
          <p:cNvPr id="13" name="Oval 12"/>
          <p:cNvSpPr/>
          <p:nvPr/>
        </p:nvSpPr>
        <p:spPr>
          <a:xfrm>
            <a:off x="4114800" y="1920240"/>
            <a:ext cx="914400" cy="914400"/>
          </a:xfrm>
          <a:prstGeom prst="ellipse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2800" b="1">
                <a:solidFill>
                  <a:srgbClr val="FFFFFF"/>
                </a:solidFill>
                <a:latin typeface="微软雅黑"/>
              </a:defRPr>
            </a:pPr>
            <a:r>
              <a:t>VS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03520" y="1097280"/>
            <a:ext cx="347472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1097280"/>
            <a:ext cx="347472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18872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E3A5F"/>
                </a:solidFill>
                <a:latin typeface="微软雅黑"/>
              </a:defRPr>
            </a:pPr>
            <a:r>
              <a:t>蒋介石 / 国民党军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15727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兵力：数十万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195681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武器：飞机大炮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34086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追兵迟到2天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27249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渡口防守：被调回昆明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108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2D2D2D"/>
                </a:solidFill>
                <a:latin typeface="微软雅黑"/>
              </a:defRPr>
            </a:pPr>
            <a:r>
              <a:t>结局：望江兴叹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86200"/>
            <a:ext cx="8412480" cy="640080"/>
          </a:xfrm>
          <a:prstGeom prst="rect">
            <a:avLst/>
          </a:prstGeom>
          <a:solidFill>
            <a:srgbClr val="8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9319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D4A843"/>
                </a:solidFill>
                <a:latin typeface="微软雅黑"/>
              </a:defRPr>
            </a:pPr>
            <a:r>
              <a:t>红军过江 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931920"/>
            <a:ext cx="3931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AA9999"/>
                </a:solidFill>
                <a:latin typeface="微软雅黑"/>
              </a:defRPr>
            </a:pPr>
            <a:r>
              <a:t>国民党望江兴叹 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606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70"/>
              </a:lnSpc>
              <a:spcAft>
                <a:spcPts val="0"/>
              </a:spcAft>
              <a:defRPr sz="900" b="1">
                <a:solidFill>
                  <a:srgbClr val="C41E3A"/>
                </a:solidFill>
                <a:latin typeface="微软雅黑"/>
              </a:defRPr>
            </a:pPr>
            <a:r>
              <a:t>气到跺脚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巧渡金沙江的战略意义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AAAAAA"/>
                </a:solidFill>
                <a:latin typeface="微软雅黑"/>
              </a:defRPr>
            </a:pPr>
            <a:r>
              <a:t>——长征中的决定性胜利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2606040" cy="4572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C41E3A"/>
                </a:solidFill>
                <a:latin typeface="微软雅黑"/>
              </a:defRPr>
            </a:pPr>
            <a:r>
              <a:t>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41E3A"/>
                </a:solidFill>
                <a:latin typeface="微软雅黑"/>
              </a:defRPr>
            </a:pPr>
            <a: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跳出包围圈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94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彻底摆脱几十万敌军</a:t>
            </a:r>
            <a:br/>
            <a:r>
              <a:t>围追堵截，战略转移</a:t>
            </a:r>
            <a:br/>
            <a:r>
              <a:t>取得决定性胜利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79" y="10972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54679" y="1097280"/>
            <a:ext cx="2606040" cy="457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188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E3A5F"/>
                </a:solidFill>
                <a:latin typeface="微软雅黑"/>
              </a:defRPr>
            </a:pPr>
            <a:r>
              <a:t>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1E3A5F"/>
                </a:solidFill>
                <a:latin typeface="微软雅黑"/>
              </a:defRPr>
            </a:pPr>
            <a:r>
              <a:t>握手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会师奠基石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39" y="2194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渡江后北上通道打开</a:t>
            </a:r>
            <a:br/>
            <a:r>
              <a:t>为两大主力红军</a:t>
            </a:r>
            <a:br/>
            <a:r>
              <a:t>会师创造了条件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097280"/>
            <a:ext cx="2606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0" y="1097280"/>
            <a:ext cx="260604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18872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D4A843"/>
                </a:solidFill>
                <a:latin typeface="微软雅黑"/>
              </a:defRPr>
            </a:pPr>
            <a:r>
              <a:t>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160020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D4A843"/>
                </a:solidFill>
                <a:latin typeface="微软雅黑"/>
              </a:defRPr>
            </a:pPr>
            <a:r>
              <a:t>卷轴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1874519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D2D2D"/>
                </a:solidFill>
                <a:latin typeface="微软雅黑"/>
              </a:defRPr>
            </a:pPr>
            <a:r>
              <a:t>金沙水拍云崖暖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94560"/>
            <a:ext cx="2331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7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毛泽东诗句定格辉煌</a:t>
            </a:r>
            <a:br/>
            <a:r>
              <a:t>长征中最具诗意的</a:t>
            </a:r>
            <a:br/>
            <a:r>
              <a:t>胜利记忆永辉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03320"/>
            <a:ext cx="8412480" cy="777240"/>
          </a:xfrm>
          <a:prstGeom prst="rect">
            <a:avLst/>
          </a:prstGeom>
          <a:solidFill>
            <a:srgbClr val="1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841248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7673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D4A843"/>
                </a:solidFill>
                <a:latin typeface="楷体"/>
              </a:defRPr>
            </a:pPr>
            <a:r>
              <a:t>“长征是宣言书，长征是宣传队，长征是播种机。”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133087"/>
            <a:ext cx="8046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998877"/>
                </a:solidFill>
                <a:latin typeface="微软雅黑"/>
              </a:defRPr>
            </a:pPr>
            <a:r>
              <a:t>—— 毛泽东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8B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502920"/>
            <a:ext cx="640080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7680960" cy="2377440"/>
          </a:xfrm>
          <a:prstGeom prst="rect">
            <a:avLst/>
          </a:prstGeom>
          <a:solidFill>
            <a:srgbClr val="7A1515"/>
          </a:solidFill>
          <a:ln w="12700">
            <a:solidFill>
              <a:srgbClr val="D4A8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7680960" cy="457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D4A843"/>
                </a:solidFill>
                <a:latin typeface="微软雅黑"/>
              </a:defRPr>
            </a:pPr>
            <a:r>
              <a:t>“毛泽东要让蒋介石怎么做，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1">
                <a:solidFill>
                  <a:srgbClr val="D4A843"/>
                </a:solidFill>
                <a:latin typeface="微软雅黑"/>
              </a:defRPr>
            </a:pPr>
            <a:r>
              <a:t>蒋介石就怎么做。”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DDCCBB"/>
                </a:solidFill>
                <a:latin typeface="微软雅黑"/>
              </a:defRPr>
            </a:pPr>
            <a:r>
              <a:t>—— 美国记者 索尔兹伯里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520440"/>
            <a:ext cx="54864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7033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CCAAAA"/>
                </a:solidFill>
                <a:latin typeface="楷体"/>
              </a:defRPr>
            </a:pPr>
            <a:r>
              <a:t>“四渡赤水是平生最得意之笔，巧渡金沙江是其中最精妙的一笔。”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041648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998888"/>
                </a:solidFill>
                <a:latin typeface="微软雅黑"/>
              </a:defRPr>
            </a:pPr>
            <a:r>
              <a:t>—— 毛泽东自评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4434840"/>
            <a:ext cx="6400800" cy="365760"/>
          </a:xfrm>
          <a:prstGeom prst="rect">
            <a:avLst/>
          </a:prstGeom>
          <a:solidFill>
            <a:srgbClr val="8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462272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D4A843"/>
                </a:solidFill>
                <a:latin typeface="微软雅黑"/>
              </a:defRPr>
            </a:pPr>
            <a:r>
              <a:t>真正的“神机妙算”，不是运气，而是能洞察各方势力之间的矛盾，用最小代价赢最大的棋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8229600" cy="777240"/>
          </a:xfrm>
          <a:prstGeom prst="rect">
            <a:avLst/>
          </a:prstGeom>
          <a:solidFill>
            <a:srgbClr val="1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8229600" cy="36576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47472"/>
            <a:ext cx="7863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380"/>
              </a:lnSpc>
              <a:spcAft>
                <a:spcPts val="0"/>
              </a:spcAft>
              <a:defRPr sz="2600" b="1">
                <a:solidFill>
                  <a:srgbClr val="D4A843"/>
                </a:solidFill>
                <a:latin typeface="微软雅黑"/>
              </a:defRPr>
            </a:pPr>
            <a:r>
              <a:t>课后小互动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029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5A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029200" cy="45720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5A7D3A"/>
                </a:solidFill>
                <a:latin typeface="微软雅黑"/>
              </a:defRPr>
            </a:pPr>
            <a:r>
              <a:t>如果你穿越成龙云……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19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80"/>
              </a:lnSpc>
              <a:spcAft>
                <a:spcPts val="0"/>
              </a:spcAft>
              <a:defRPr sz="1600" b="1">
                <a:solidFill>
                  <a:srgbClr val="2D2D2D"/>
                </a:solidFill>
                <a:latin typeface="微软雅黑"/>
              </a:defRPr>
            </a:pPr>
            <a:r>
              <a:t>你会把金沙江沿岸的守军</a:t>
            </a:r>
            <a:br/>
            <a:r>
              <a:t>调回昆明吗？为什么？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6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提示：站在龙云的角度，你面临哪些两难选择？</a:t>
            </a:r>
            <a:br/>
            <a:r>
              <a:t>如果你是毛泽东，又会如何应对？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280160"/>
            <a:ext cx="2926080" cy="2286000"/>
          </a:xfrm>
          <a:prstGeom prst="rect">
            <a:avLst/>
          </a:prstGeom>
          <a:solidFill>
            <a:srgbClr val="F5FAF0"/>
          </a:solidFill>
          <a:ln w="12700">
            <a:solidFill>
              <a:srgbClr val="5A7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720" y="1280160"/>
            <a:ext cx="2926080" cy="36576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5A7D3A"/>
                </a:solidFill>
                <a:latin typeface="微软雅黑"/>
              </a:defRPr>
            </a:pPr>
            <a:r>
              <a:t>龙云 Q 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65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80"/>
              </a:lnSpc>
              <a:spcAft>
                <a:spcPts val="0"/>
              </a:spcAft>
              <a:defRPr sz="1400" b="1">
                <a:solidFill>
                  <a:srgbClr val="2D2D2D"/>
                </a:solidFill>
                <a:latin typeface="微软雅黑"/>
              </a:defRPr>
            </a:pPr>
            <a:r>
              <a:t>保昆明？</a:t>
            </a:r>
            <a:br/>
            <a:r>
              <a:t>保江防？</a:t>
            </a:r>
            <a:br/>
            <a:r>
              <a:t>我太难了……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606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66666"/>
                </a:solidFill>
                <a:latin typeface="微软雅黑"/>
              </a:defRPr>
            </a:pPr>
            <a:r>
              <a:t>表情：微笑中带着尴尬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1B1A1A"/>
          </a:solidFill>
          <a:ln w="12700">
            <a:solidFill>
              <a:srgbClr val="DDD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8229600" cy="2743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9319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D4A843"/>
                </a:solidFill>
                <a:latin typeface="微软雅黑"/>
              </a:defRPr>
            </a:pPr>
            <a:r>
              <a:t>延伸学习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998877"/>
                </a:solidFill>
                <a:latin typeface="微软雅黑"/>
              </a:defRPr>
            </a:pPr>
            <a:r>
              <a:t>推荐读物：《长征——前所未闻的故事》索尔兹伯里 · 更多资料请扫码查看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4754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666666"/>
                </a:solidFill>
                <a:latin typeface="微软雅黑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